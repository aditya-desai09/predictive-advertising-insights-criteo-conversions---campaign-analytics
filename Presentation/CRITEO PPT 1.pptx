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4" r:id="rId3"/>
    <p:sldId id="257" r:id="rId4"/>
    <p:sldId id="258" r:id="rId5"/>
    <p:sldId id="259" r:id="rId6"/>
    <p:sldId id="277" r:id="rId7"/>
    <p:sldId id="260" r:id="rId8"/>
    <p:sldId id="261" r:id="rId9"/>
    <p:sldId id="262" r:id="rId10"/>
    <p:sldId id="263" r:id="rId11"/>
    <p:sldId id="275" r:id="rId12"/>
    <p:sldId id="264" r:id="rId13"/>
    <p:sldId id="265" r:id="rId14"/>
    <p:sldId id="276" r:id="rId15"/>
    <p:sldId id="267" r:id="rId16"/>
    <p:sldId id="266" r:id="rId17"/>
    <p:sldId id="268" r:id="rId18"/>
    <p:sldId id="270" r:id="rId19"/>
    <p:sldId id="271" r:id="rId20"/>
    <p:sldId id="272" r:id="rId21"/>
    <p:sldId id="279" r:id="rId22"/>
    <p:sldId id="278" r:id="rId23"/>
    <p:sldId id="27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 Score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1AB-4D44-8170-4FFCB12BDCAE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1AB-4D44-8170-4FFCB12BDCAE}"/>
              </c:ext>
            </c:extLst>
          </c:dPt>
          <c:dPt>
            <c:idx val="2"/>
            <c:invertIfNegative val="0"/>
            <c:bubble3D val="0"/>
            <c:spPr>
              <a:solidFill>
                <a:srgbClr val="3B4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1AB-4D44-8170-4FFCB12BDCAE}"/>
              </c:ext>
            </c:extLst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1AB-4D44-8170-4FFCB12BDCAE}"/>
              </c:ext>
            </c:extLst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1AB-4D44-8170-4FFCB12BDCA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LightGBM</c:v>
                </c:pt>
                <c:pt idx="2">
                  <c:v>Random
Forest</c:v>
                </c:pt>
                <c:pt idx="3">
                  <c:v>CatBoost</c:v>
                </c:pt>
                <c:pt idx="4">
                  <c:v>Logistic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</c:v>
                </c:pt>
                <c:pt idx="1">
                  <c:v>0.94899999999999995</c:v>
                </c:pt>
                <c:pt idx="2">
                  <c:v>0.94799999999999995</c:v>
                </c:pt>
                <c:pt idx="3">
                  <c:v>0.94699999999999995</c:v>
                </c:pt>
                <c:pt idx="4">
                  <c:v>0.93300000000000005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1AB-4D44-8170-4FFCB12BDC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9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9914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05D31-FFAF-0581-BB22-B2FD076C6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CC8CC-7A78-55C6-4E56-F342C0E97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964B7-FAAA-B7A1-A8AD-1CAD7CB98F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BCC53B-88C1-21D5-A5A2-B4AB19B2B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99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02C1C-42E4-3D70-A5E2-1F3AF9B7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BF7445-E676-87AE-2BA5-A030B770D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E137B3-2EAE-FCF0-0CEC-4957B19B0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C366F-2C6A-C900-6935-69452DD290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39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8E23A-8D78-5F93-F5FD-1A77ACB93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3BC3D-6C13-23FA-7EFB-C050C6532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DC4F47-81A4-A32D-1ABB-0C1715FBC9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FB258-A62F-EF5A-0517-99BBF43793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829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32969-13C0-1655-AD2D-832F3A224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179AB-170E-75ED-6C7F-0AFBC18F6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47EC65-015F-CA65-9EAF-9D1960464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F2CAB7-DEB8-8B72-3E36-404D1A5D86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481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AD76A-E282-1C93-2E1B-1F647A247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84F4A-9017-DE31-ACFE-F46278CDB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99B654-3E04-D8F6-B0CB-5ED0D4831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AB84D7-1F32-3425-0C73-B23327A423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272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DB31D-4CD0-5656-E3C0-E75BC86B1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DB15B-8B53-D605-9174-A1E4821576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3EC9C-C34D-DB49-8A4A-3F83E447B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08AB4-768E-296A-8FC1-B16332E2AE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668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spaces/adi-09/criteo-attribution-app-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0106" y="240031"/>
            <a:ext cx="7315200" cy="977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CRITEO ATTRIBUTION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50106" y="97869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726645"/>
            <a:ext cx="7779544" cy="2610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Group Number – 5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250843025004  - Aditya Vinayak Desai</a:t>
            </a:r>
          </a:p>
          <a:p>
            <a:r>
              <a:rPr lang="en-US" dirty="0">
                <a:solidFill>
                  <a:srgbClr val="FFFFFF"/>
                </a:solidFill>
              </a:rPr>
              <a:t>250843025007 - Anjali Jha</a:t>
            </a:r>
          </a:p>
          <a:p>
            <a:r>
              <a:rPr lang="en-US" dirty="0">
                <a:solidFill>
                  <a:srgbClr val="FFFFFF"/>
                </a:solidFill>
              </a:rPr>
              <a:t>250843025031 - Manoranjan Ghadei</a:t>
            </a:r>
          </a:p>
          <a:p>
            <a:r>
              <a:rPr lang="en-US" dirty="0">
                <a:solidFill>
                  <a:srgbClr val="FFFFFF"/>
                </a:solidFill>
              </a:rPr>
              <a:t>250843025039 - Prajakta Dipak Patil</a:t>
            </a:r>
          </a:p>
          <a:p>
            <a:endParaRPr lang="en-US" sz="1800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Guided By :</a:t>
            </a:r>
          </a:p>
          <a:p>
            <a:r>
              <a:rPr lang="en-US" dirty="0">
                <a:solidFill>
                  <a:schemeClr val="bg1"/>
                </a:solidFill>
              </a:rPr>
              <a:t>Milind Kapse Sir</a:t>
            </a:r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C5EB75-B1DA-BF4B-72FE-D2447DC24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5458" y="175684"/>
            <a:ext cx="2398542" cy="1257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153BBE-6782-D38B-393B-0DB994BB5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6C92DF-ECA8-0844-5650-91182BE0D561}"/>
              </a:ext>
            </a:extLst>
          </p:cNvPr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57842B-09FE-5457-8E67-83C3E5704994}"/>
              </a:ext>
            </a:extLst>
          </p:cNvPr>
          <p:cNvSpPr/>
          <p:nvPr/>
        </p:nvSpPr>
        <p:spPr>
          <a:xfrm>
            <a:off x="850106" y="115728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CRITEO ATTRIBUTION</a:t>
            </a:r>
            <a:endParaRPr lang="en-US" sz="4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6541C-200A-FC4A-244C-F718EFA51878}"/>
              </a:ext>
            </a:extLst>
          </p:cNvPr>
          <p:cNvSpPr/>
          <p:nvPr/>
        </p:nvSpPr>
        <p:spPr>
          <a:xfrm>
            <a:off x="850106" y="22860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MODELING</a:t>
            </a:r>
            <a:endParaRPr lang="en-US" sz="4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EBFF927-F4CF-13D2-A074-4B430CFB2F07}"/>
              </a:ext>
            </a:extLst>
          </p:cNvPr>
          <p:cNvSpPr/>
          <p:nvPr/>
        </p:nvSpPr>
        <p:spPr>
          <a:xfrm>
            <a:off x="850106" y="343757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</a:rPr>
              <a:t>End-to-End ML Pipeline for Digital Ad Attribution Prediction</a:t>
            </a:r>
            <a:endParaRPr lang="en-US" sz="1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40048FC-3911-BDE3-2937-4607CB900AF6}"/>
              </a:ext>
            </a:extLst>
          </p:cNvPr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30FA7A-0828-6A63-C84A-95C219E75B5A}"/>
              </a:ext>
            </a:extLst>
          </p:cNvPr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12804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16.4M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Total Impressions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700+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603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Campaigns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6.1M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6344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Users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1920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2.69%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665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</a:rPr>
              <a:t>Attribution Rate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6032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Business Objective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3108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Predict ad impressions that will receive attribution credit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256032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56032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37760" y="2697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Dataset Specifications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31089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</a:rPr>
              <a:t>Dataset</a:t>
            </a:r>
            <a:r>
              <a:rPr lang="en-US" sz="1200" dirty="0">
                <a:solidFill>
                  <a:srgbClr val="1F2937"/>
                </a:solidFill>
              </a:rPr>
              <a:t> </a:t>
            </a:r>
            <a:r>
              <a:rPr lang="en-US" sz="1200" b="1" dirty="0">
                <a:solidFill>
                  <a:srgbClr val="1F2937"/>
                </a:solidFill>
              </a:rPr>
              <a:t>Name</a:t>
            </a:r>
            <a:r>
              <a:rPr lang="en-US" sz="1200" dirty="0">
                <a:solidFill>
                  <a:srgbClr val="1F2937"/>
                </a:solidFill>
              </a:rPr>
              <a:t>: Criteo Attribution Modeling Dataset</a:t>
            </a:r>
          </a:p>
          <a:p>
            <a:r>
              <a:rPr lang="en-US" sz="1200" b="1" dirty="0">
                <a:solidFill>
                  <a:srgbClr val="1F2937"/>
                </a:solidFill>
              </a:rPr>
              <a:t>Link</a:t>
            </a:r>
            <a:r>
              <a:rPr lang="en-US" sz="1200" dirty="0">
                <a:solidFill>
                  <a:srgbClr val="1F2937"/>
                </a:solidFill>
              </a:rPr>
              <a:t>: kaggle.com/datasets/</a:t>
            </a:r>
            <a:r>
              <a:rPr lang="en-US" sz="1200" dirty="0" err="1">
                <a:solidFill>
                  <a:srgbClr val="1F2937"/>
                </a:solidFill>
              </a:rPr>
              <a:t>sharatsachin</a:t>
            </a:r>
            <a:r>
              <a:rPr lang="en-US" sz="1200" dirty="0">
                <a:solidFill>
                  <a:srgbClr val="1F2937"/>
                </a:solidFill>
              </a:rPr>
              <a:t>/</a:t>
            </a:r>
            <a:r>
              <a:rPr lang="en-US" sz="1200" dirty="0" err="1">
                <a:solidFill>
                  <a:srgbClr val="1F2937"/>
                </a:solidFill>
              </a:rPr>
              <a:t>criteo</a:t>
            </a:r>
            <a:r>
              <a:rPr lang="en-US" sz="1200" dirty="0">
                <a:solidFill>
                  <a:srgbClr val="1F2937"/>
                </a:solidFill>
              </a:rPr>
              <a:t>-attribution-modeling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64568" y="2205990"/>
            <a:ext cx="544353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Loading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CSV → PostgreSQL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COPY command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57400" y="2194560"/>
            <a:ext cx="320040" cy="228600"/>
          </a:xfrm>
          <a:prstGeom prst="rightArrow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48840" y="118872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974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4028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Exploratory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Analysis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Distribution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imbalance analysis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2194560"/>
            <a:ext cx="320040" cy="228600"/>
          </a:xfrm>
          <a:prstGeom prst="rightArrow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840480" y="118872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8912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3192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Engineering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3192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35 production-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ready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2194560"/>
            <a:ext cx="320040" cy="228600"/>
          </a:xfrm>
          <a:prstGeom prst="rightArrow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532120" y="118872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08076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0807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2356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Training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5 algorithms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evaluated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132320" y="2194560"/>
            <a:ext cx="320040" cy="228600"/>
          </a:xfrm>
          <a:prstGeom prst="rightArrow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223760" y="1188720"/>
            <a:ext cx="1554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724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Selection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0" y="2743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XGBoost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selected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16,468,027 impressions processed  |  PostgreSQL database with indexed records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07A28E-B718-9110-8C1E-D0DAF1BE6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B3EACBC-FC5D-23D3-F64D-72E27607B5E8}"/>
              </a:ext>
            </a:extLst>
          </p:cNvPr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 Diagram</a:t>
            </a:r>
            <a:endParaRPr lang="en-US" sz="36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438C008-DEDF-B305-3BBE-8FE2AB80D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063" y="899246"/>
            <a:ext cx="6211873" cy="406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6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577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Loading &amp; PostgreSQL Setup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38303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38303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2019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First Load — Raw Data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88595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Source: pcb_dataset_final.csv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Target table: criteo_data (22 columns)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Chunk size: 200,000 rows | 83 batches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38303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0" y="138303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52019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Second Load — Engineered Data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88595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Source: criteo_production_ready_data.csv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Target table: criteo_data_fe (36 columns)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Chunk size: 200,000 rows | 83 batches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54629"/>
            <a:ext cx="8229600" cy="1860233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65760" y="2754630"/>
            <a:ext cx="73152" cy="186023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89179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Why PostgreSQL?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158965"/>
            <a:ext cx="7772400" cy="12215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Scales well for analytical workloads</a:t>
            </a:r>
            <a:r>
              <a:rPr lang="en-US" sz="1200" dirty="0"/>
              <a:t>: Handles wide tables and tens of millions of records with ease.</a:t>
            </a:r>
          </a:p>
          <a:p>
            <a:r>
              <a:rPr lang="en-US" sz="1200" b="1" dirty="0"/>
              <a:t>Rich indexing &amp; query optimization</a:t>
            </a:r>
            <a:r>
              <a:rPr lang="en-US" sz="1200" dirty="0"/>
              <a:t>: Powerful planner for complex joins and feature heavy datasets.</a:t>
            </a:r>
          </a:p>
          <a:p>
            <a:r>
              <a:rPr lang="en-US" sz="1200" b="1" dirty="0"/>
              <a:t>Open-source &amp; production-proven</a:t>
            </a:r>
            <a:r>
              <a:rPr lang="en-US" sz="1200" dirty="0"/>
              <a:t>: No licensing cost, widely adopted in industry grade data pipelines.</a:t>
            </a:r>
          </a:p>
          <a:p>
            <a:r>
              <a:rPr lang="en-US" sz="1200" b="1" dirty="0"/>
              <a:t>Excellent ecosystem support</a:t>
            </a:r>
            <a:r>
              <a:rPr lang="en-US" sz="1200" dirty="0"/>
              <a:t>: Seamless integration with Python, BI tools, and ML workflows.</a:t>
            </a:r>
          </a:p>
          <a:p>
            <a:r>
              <a:rPr lang="en-US" sz="1200" b="1" dirty="0"/>
              <a:t>High-performance bulk loading</a:t>
            </a:r>
            <a:r>
              <a:rPr lang="en-US" sz="1200" dirty="0"/>
              <a:t>: Native copy command enables fast ingestion of millions of rows efficiently.</a:t>
            </a:r>
          </a:p>
        </p:txBody>
      </p:sp>
      <p:sp>
        <p:nvSpPr>
          <p:cNvPr id="21" name="Text 19"/>
          <p:cNvSpPr/>
          <p:nvPr/>
        </p:nvSpPr>
        <p:spPr>
          <a:xfrm>
            <a:off x="8321040" y="504063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92919" y="1828800"/>
            <a:ext cx="8158161" cy="16502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4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Exploratory Data Analysis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1371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Attribution Rate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2.69%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Imbalance Percentage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87121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73152" cy="13716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28416" y="1234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Class Imbalance Problem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55264" y="1577340"/>
            <a:ext cx="2816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</a:rPr>
              <a:t>- Our target variable is </a:t>
            </a:r>
            <a:r>
              <a:rPr lang="en-US" sz="1200" b="1" dirty="0">
                <a:solidFill>
                  <a:srgbClr val="1F2937"/>
                </a:solidFill>
              </a:rPr>
              <a:t>highly imbalanced</a:t>
            </a:r>
            <a:r>
              <a:rPr lang="en-US" sz="1200" dirty="0">
                <a:solidFill>
                  <a:srgbClr val="1F2937"/>
                </a:solidFill>
              </a:rPr>
              <a:t>.</a:t>
            </a:r>
          </a:p>
          <a:p>
            <a:r>
              <a:rPr lang="en-US" sz="1200" dirty="0"/>
              <a:t>- This is common in online advertising, because conversions are </a:t>
            </a:r>
            <a:r>
              <a:rPr lang="en-US" sz="1200" b="1" dirty="0"/>
              <a:t>rare</a:t>
            </a:r>
            <a:r>
              <a:rPr lang="en-US" sz="1200" dirty="0"/>
              <a:t>.</a:t>
            </a:r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1234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Data Quality Checks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09360" y="15773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</a:rPr>
              <a:t>- Missing values were zero.</a:t>
            </a:r>
          </a:p>
          <a:p>
            <a:r>
              <a:rPr lang="en-US" sz="1200" dirty="0"/>
              <a:t>- There were no major outliers, and data was stable over time.</a:t>
            </a:r>
          </a:p>
        </p:txBody>
      </p:sp>
      <p:sp>
        <p:nvSpPr>
          <p:cNvPr id="15" name="Shape 13"/>
          <p:cNvSpPr/>
          <p:nvPr/>
        </p:nvSpPr>
        <p:spPr>
          <a:xfrm>
            <a:off x="530352" y="2880360"/>
            <a:ext cx="82296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73152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800" y="29946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E2761"/>
                </a:solidFill>
              </a:rPr>
              <a:t>Statistical Methods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434715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/>
              <a:t>Correlation: </a:t>
            </a:r>
            <a:r>
              <a:rPr lang="en-US" sz="1200" dirty="0"/>
              <a:t>To check how numerical features are related to attribution</a:t>
            </a:r>
          </a:p>
          <a:p>
            <a:r>
              <a:rPr lang="en-US" sz="1200" b="1" dirty="0"/>
              <a:t>Chi-Square Test: </a:t>
            </a:r>
            <a:r>
              <a:rPr lang="en-US" sz="1200" dirty="0"/>
              <a:t>To test for categorical features to see if they are related to attribution.</a:t>
            </a:r>
            <a:endParaRPr lang="en-US" sz="1200" b="1" dirty="0"/>
          </a:p>
          <a:p>
            <a:r>
              <a:rPr lang="en-US" sz="1200" b="1" dirty="0"/>
              <a:t>Mutual Information: </a:t>
            </a:r>
            <a:r>
              <a:rPr lang="en-US" sz="1200" dirty="0"/>
              <a:t>To find non-linear relationships that correlation cannot find.</a:t>
            </a:r>
            <a:endParaRPr lang="en-US" sz="1200" b="1" dirty="0"/>
          </a:p>
          <a:p>
            <a:r>
              <a:rPr lang="en-US" sz="1200" b="1" dirty="0"/>
              <a:t>Mann-Whitney Test: </a:t>
            </a:r>
            <a:r>
              <a:rPr lang="en-US" sz="1200" dirty="0"/>
              <a:t>To compare feature values between converted and non-converted users.</a:t>
            </a:r>
            <a:endParaRPr lang="en-US" sz="1200" b="1" dirty="0"/>
          </a:p>
          <a:p>
            <a:r>
              <a:rPr lang="en-US" sz="1200" b="1" dirty="0"/>
              <a:t>Combined Score: </a:t>
            </a:r>
            <a:r>
              <a:rPr lang="en-US" sz="1200" dirty="0"/>
              <a:t>We combined all these results into one score to rank the most important feature.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4378" y="2205990"/>
            <a:ext cx="76752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38897-747C-E7A8-F0A6-61119D32A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931BE0-E2E3-DD9C-A537-5D32F297FBB0}"/>
              </a:ext>
            </a:extLst>
          </p:cNvPr>
          <p:cNvSpPr/>
          <p:nvPr/>
        </p:nvSpPr>
        <p:spPr>
          <a:xfrm>
            <a:off x="457200" y="-3200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Excluded Features and Engineered Features </a:t>
            </a:r>
            <a:endParaRPr lang="en-US" sz="24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D6E7F07-7D1E-9EDB-A8EA-10561276ACF5}"/>
              </a:ext>
            </a:extLst>
          </p:cNvPr>
          <p:cNvSpPr/>
          <p:nvPr/>
        </p:nvSpPr>
        <p:spPr>
          <a:xfrm>
            <a:off x="457200" y="1136670"/>
            <a:ext cx="8321040" cy="50925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1295076-E92E-3E55-9159-9A82FADE5FD2}"/>
              </a:ext>
            </a:extLst>
          </p:cNvPr>
          <p:cNvSpPr/>
          <p:nvPr/>
        </p:nvSpPr>
        <p:spPr>
          <a:xfrm>
            <a:off x="640080" y="1280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Original features: 15  |  Engineered: 17 |  Total: 32</a:t>
            </a:r>
            <a:endParaRPr lang="en-US" sz="1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72398C-6D3A-B8E4-4783-2D45E8DD4A04}"/>
              </a:ext>
            </a:extLst>
          </p:cNvPr>
          <p:cNvSpPr/>
          <p:nvPr/>
        </p:nvSpPr>
        <p:spPr>
          <a:xfrm>
            <a:off x="640080" y="148132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F5727A0-DE1A-3DF7-E0F3-27E409166751}"/>
              </a:ext>
            </a:extLst>
          </p:cNvPr>
          <p:cNvSpPr/>
          <p:nvPr/>
        </p:nvSpPr>
        <p:spPr>
          <a:xfrm>
            <a:off x="502920" y="1938528"/>
            <a:ext cx="4069080" cy="2450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8680A2E-EBB1-6EA3-54E1-ADB493BCE5EC}"/>
              </a:ext>
            </a:extLst>
          </p:cNvPr>
          <p:cNvSpPr/>
          <p:nvPr/>
        </p:nvSpPr>
        <p:spPr>
          <a:xfrm>
            <a:off x="457200" y="1920240"/>
            <a:ext cx="91440" cy="24688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F746C21-219C-F77D-8B92-0F1ECED6ECEF}"/>
              </a:ext>
            </a:extLst>
          </p:cNvPr>
          <p:cNvSpPr/>
          <p:nvPr/>
        </p:nvSpPr>
        <p:spPr>
          <a:xfrm>
            <a:off x="6400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Excluded Features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6DBE8D-4F51-0D76-CF1A-75EA63D1F96F}"/>
              </a:ext>
            </a:extLst>
          </p:cNvPr>
          <p:cNvSpPr/>
          <p:nvPr/>
        </p:nvSpPr>
        <p:spPr>
          <a:xfrm>
            <a:off x="64008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62359A8-5CA1-20EB-8D8C-035030728DD0}"/>
              </a:ext>
            </a:extLst>
          </p:cNvPr>
          <p:cNvSpPr/>
          <p:nvPr/>
        </p:nvSpPr>
        <p:spPr>
          <a:xfrm>
            <a:off x="4754880" y="1920239"/>
            <a:ext cx="4023360" cy="2800351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117EE26-C60B-848F-58F6-2BFFC1B50DE7}"/>
              </a:ext>
            </a:extLst>
          </p:cNvPr>
          <p:cNvSpPr/>
          <p:nvPr/>
        </p:nvSpPr>
        <p:spPr>
          <a:xfrm>
            <a:off x="4754879" y="1920240"/>
            <a:ext cx="131977" cy="280035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05C4470-71DD-3223-C41D-A69A1589E461}"/>
              </a:ext>
            </a:extLst>
          </p:cNvPr>
          <p:cNvSpPr/>
          <p:nvPr/>
        </p:nvSpPr>
        <p:spPr>
          <a:xfrm>
            <a:off x="493776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Engineered Features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9A2B5A8-B5C1-425A-DD37-99BAA84C56A1}"/>
              </a:ext>
            </a:extLst>
          </p:cNvPr>
          <p:cNvSpPr/>
          <p:nvPr/>
        </p:nvSpPr>
        <p:spPr>
          <a:xfrm>
            <a:off x="493776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67772B4-6439-3E2F-9D5A-867F75DA3896}"/>
              </a:ext>
            </a:extLst>
          </p:cNvPr>
          <p:cNvSpPr/>
          <p:nvPr/>
        </p:nvSpPr>
        <p:spPr>
          <a:xfrm>
            <a:off x="64008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683D6F8-CC2C-50AE-A752-32286156D3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660" t="13677" r="9666" b="314"/>
          <a:stretch>
            <a:fillRect/>
          </a:stretch>
        </p:blipFill>
        <p:spPr>
          <a:xfrm>
            <a:off x="582051" y="2377440"/>
            <a:ext cx="3879729" cy="193430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1DF9A53-2D10-4DF0-9BE6-9C6CF74D1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817" y="2331720"/>
            <a:ext cx="3710520" cy="231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87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32004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 of Engineered Features 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75004"/>
            <a:ext cx="8321040" cy="5486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Original features: 15  |  Engineered: 17  |  Total: 32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B6D4"/>
                </a:solidFill>
              </a:rPr>
              <a:t>All available at impression/bidding time  •  No user-specific history required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73152" cy="11887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Campaign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campaign_attribution_rate: historical rate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674 reliable campaigns (≥50 impressions)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Performance range: 0.11% to 19.02%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202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73152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Contextual Categories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cat1–cat9 attribution rates (cat7 excluded)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comprehensive_category_score combined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Holistic contextual targeting assessment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73152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Cost &amp; Click Features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cost_quartile: Low/Med-Low/Med-High/High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cpo_efficiency: normalized ROI score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click_indicator, click_position, click_count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73152" cy="1188720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Temporal Features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timestamp_normalized: dataset position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time_period: categorical time bins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Captures cyclical and trend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635918" y="220599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SELECTION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AF46C-9BDA-975B-D8CF-CBB7A47E0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F16BB3A-33E6-07C3-A5A5-8F604C1AAA4D}"/>
              </a:ext>
            </a:extLst>
          </p:cNvPr>
          <p:cNvSpPr/>
          <p:nvPr/>
        </p:nvSpPr>
        <p:spPr>
          <a:xfrm>
            <a:off x="457200" y="-210357"/>
            <a:ext cx="8229600" cy="176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Comparison</a:t>
            </a:r>
            <a:endParaRPr lang="en-U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FF5C8-354B-E1A7-7E1E-2CD83473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133" y="1561959"/>
            <a:ext cx="7711075" cy="219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71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093" y="-140019"/>
            <a:ext cx="8229600" cy="1761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Algorithm Comparison: ROC-AUC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3272876648"/>
              </p:ext>
            </p:extLst>
          </p:nvPr>
        </p:nvGraphicFramePr>
        <p:xfrm>
          <a:off x="807244" y="1445895"/>
          <a:ext cx="7315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Performance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Best ROC-AUC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0.951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Highest discrimination capability among all models tested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7472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Best Precision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13.9%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Minimizes wasted ad spend with best trade-off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Fastest Training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</a:rPr>
              <a:t>On 16.4M rows — enables daily/weekly retraining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Selected as Production Model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B6D4"/>
                </a:solidFill>
              </a:rPr>
              <a:t>Superior performance across all key metrics with production-ready infrastructure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XGBoost ? Selected Production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247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0" y="112471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ROC-AUC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0.951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Highest discrimination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6459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13.9%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29% vs baseline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459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91.3%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54880" y="2377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Captures true attributions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64592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280"/>
                </a:solidFill>
              </a:rPr>
              <a:t>Training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0116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4A8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34.9s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58000" y="237744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</a:rPr>
              <a:t>Daily retraining feasible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80924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" y="2834640"/>
            <a:ext cx="90385" cy="1554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2901461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Hyperparameter Configuration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32461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n_estimators: 100  |  max_depth: 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learning_rate: 0.1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scale_pos_weight: 36.06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  (addresses 36:1 class imbalance)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eval_metric: logloss  |  random_state: 42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731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3.11.9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pandas 2.3.3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NumPy 2.3.5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scikit-learn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Jupyter Notebook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psycopg2-binary 2.9.11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SQLAlchemy 2.0.45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COPY bulk loading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16.4M rows indexed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73152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XGBoost (production)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LightGBM (backup)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Random Forest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CatBoost, Logistic Reg.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023360" cy="73152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4290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matplotlib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seaborn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Statistical visualizations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• EDA analysis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0057" y="167164"/>
            <a:ext cx="8229600" cy="1261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 &amp; Production Readiness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74470"/>
            <a:ext cx="1920240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5735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20599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Improvement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74470"/>
            <a:ext cx="1920240" cy="109728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651760" y="165735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91.3%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51760" y="220599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Attribution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Capture 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74470"/>
            <a:ext cx="1920240" cy="10972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0" y="165735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34.9s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754880" y="220599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474470"/>
            <a:ext cx="1920240" cy="1097280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0" y="165735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~150×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220599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Load Speed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vs INSERT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5463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2754630"/>
            <a:ext cx="73152" cy="1645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28917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Production Readiness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25755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All features available at impression/bidding time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No user-specific personalization required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Fast inference (microseconds per prediction)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Daily/weekly retraining feasible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Handles 36:1 class imbalance effectively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54630"/>
            <a:ext cx="4023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754630"/>
            <a:ext cx="73152" cy="1645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289179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Business Impact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46320" y="325755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29% reduction in false positives (wasted ad spend)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91.3% capture rate of true attribution 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Revenue preservation through high recall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Daily retraining enables market adaptation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Production-ready for cold-start users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0440" y="725805"/>
            <a:ext cx="690086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30352" y="181737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30352" y="1817370"/>
            <a:ext cx="73152" cy="13716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195453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Project Achievements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04672" y="232029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Production-ready XGBoost model achieves 95.0% ROC-AUC on 16.4M impressions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Feature engineering strictly adhered to production constraints (no future leakage)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PostgreSQL COPY command achieved efficient loading (under 6 minutes)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• 29% precision improvement over baseline while maintaining 91.3% recall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-2018824" y="685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206240"/>
            <a:ext cx="9144000" cy="571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XGBoost  |  ROC-AUC 0.950  |  35 Features  |  16.4M Impressions  |  CDAC PG-DBDA  |  Jan 2026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D72944-E893-756B-04C3-F68A37689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DD2BC3-5DD5-DE50-D9EF-2C43196771C3}"/>
              </a:ext>
            </a:extLst>
          </p:cNvPr>
          <p:cNvSpPr/>
          <p:nvPr/>
        </p:nvSpPr>
        <p:spPr>
          <a:xfrm>
            <a:off x="1075896" y="2297430"/>
            <a:ext cx="69922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</a:t>
            </a:r>
          </a:p>
          <a:p>
            <a:pPr algn="ctr"/>
            <a:r>
              <a:rPr lang="en-US" dirty="0">
                <a:hlinkClick r:id="rId3"/>
              </a:rPr>
              <a:t>https://huggingface.co/spaces/adi-09/criteo-attribution-app-g</a:t>
            </a: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C3773BB-A041-E760-F9CD-65C040D20918}"/>
              </a:ext>
            </a:extLst>
          </p:cNvPr>
          <p:cNvSpPr/>
          <p:nvPr/>
        </p:nvSpPr>
        <p:spPr>
          <a:xfrm>
            <a:off x="-2018824" y="1091565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869CDB-0F9C-C9F3-2B6D-4541D5D104E7}"/>
              </a:ext>
            </a:extLst>
          </p:cNvPr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XGBoost  |  ROC-AUC 0.950  |  35 Features  |  16.4M Impressions  |  CDAC PG-DBDA  |  Jan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20189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75FC2-5DC2-D4C7-19B0-00534511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381ABD5-FFE1-DFF8-3467-196E9ADE4405}"/>
              </a:ext>
            </a:extLst>
          </p:cNvPr>
          <p:cNvSpPr/>
          <p:nvPr/>
        </p:nvSpPr>
        <p:spPr>
          <a:xfrm>
            <a:off x="1075896" y="2297430"/>
            <a:ext cx="699220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 and Discussion</a:t>
            </a:r>
            <a:endParaRPr lang="en-US" sz="3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24042AA-2442-D37E-63D2-A8F6A322C4E9}"/>
              </a:ext>
            </a:extLst>
          </p:cNvPr>
          <p:cNvSpPr/>
          <p:nvPr/>
        </p:nvSpPr>
        <p:spPr>
          <a:xfrm>
            <a:off x="-2018824" y="1091565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448A1DD-2DD7-A171-634D-6D537D37F3D8}"/>
              </a:ext>
            </a:extLst>
          </p:cNvPr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XGBoost  |  ROC-AUC 0.950  |  35 Features  |  16.4M Impressions  |  CDAC PG-DBDA  |  Jan 2026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57315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3B4A8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1026</Words>
  <Application>Microsoft Office PowerPoint</Application>
  <PresentationFormat>On-screen Show (16:9)</PresentationFormat>
  <Paragraphs>231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Criteo Attribution Modeling</dc:title>
  <dc:subject>PptxGenJS Presentation</dc:subject>
  <dc:creator>CDAC PG-DBDA</dc:creator>
  <cp:lastModifiedBy>Aditya Desai</cp:lastModifiedBy>
  <cp:revision>13</cp:revision>
  <cp:lastPrinted>2026-02-01T20:07:11Z</cp:lastPrinted>
  <dcterms:created xsi:type="dcterms:W3CDTF">2026-02-01T19:46:00Z</dcterms:created>
  <dcterms:modified xsi:type="dcterms:W3CDTF">2026-02-04T10:17:34Z</dcterms:modified>
</cp:coreProperties>
</file>